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4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4206240" cy="4206240"/>
          </a:xfrm>
          <a:prstGeom prst="ellipse">
            <a:avLst/>
          </a:prstGeom>
          <a:solidFill>
            <a:srgbClr val="0E7C7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206240"/>
            <a:ext cx="5943600" cy="5943600"/>
          </a:xfrm>
          <a:prstGeom prst="ellipse">
            <a:avLst/>
          </a:prstGeom>
          <a:solidFill>
            <a:srgbClr val="0E7C7B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·  COMPUTER NETWORKS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Cloud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822960" y="2907792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an On-Premise Network to a Simulated Cloud via IPsec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0" descr="/home/claude/pptx_build/images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3930823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4165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On-Premise</a:t>
            </a:r>
            <a:endParaRPr lang="en-US" sz="1050" dirty="0"/>
          </a:p>
        </p:txBody>
      </p:sp>
      <p:pic>
        <p:nvPicPr>
          <p:cNvPr id="11" name="Image 1" descr="/home/claude/pptx_build/images/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941064"/>
            <a:ext cx="292608" cy="292608"/>
          </a:xfrm>
          <a:prstGeom prst="rect">
            <a:avLst/>
          </a:prstGeom>
        </p:spPr>
      </p:pic>
      <p:pic>
        <p:nvPicPr>
          <p:cNvPr id="12" name="Image 2" descr="/home/claude/pptx_build/images/icons/lock_amb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941064"/>
            <a:ext cx="292608" cy="292608"/>
          </a:xfrm>
          <a:prstGeom prst="rect">
            <a:avLst/>
          </a:prstGeom>
        </p:spPr>
      </p:pic>
      <p:pic>
        <p:nvPicPr>
          <p:cNvPr id="13" name="Image 3" descr="/home/claude/pptx_build/images/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941064"/>
            <a:ext cx="292608" cy="29260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108960" y="3794760"/>
            <a:ext cx="566928" cy="566928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15" name="Image 4" descr="/home/claude/pptx_build/images/icons/dock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5023" y="3930823"/>
            <a:ext cx="294803" cy="2948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80360" y="44165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/ LocalStack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777240" y="5623560"/>
            <a:ext cx="10607040" cy="868680"/>
          </a:xfrm>
          <a:prstGeom prst="roundRect">
            <a:avLst>
              <a:gd name="adj" fmla="val 8421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005840" y="577900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buNone/>
            </a:pPr>
            <a:r>
              <a:rPr lang="en-US" sz="130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Fahad Irshad      </a:t>
            </a:r>
            <a:pPr indent="0" marL="0">
              <a:buNone/>
            </a:pPr>
            <a:r>
              <a:rPr lang="en-US" sz="1300" b="1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Size: </a:t>
            </a:r>
            <a:pPr indent="0" marL="0">
              <a:buNone/>
            </a:pPr>
            <a:r>
              <a:rPr lang="en-US" sz="1300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 &amp; Roles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1984248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6" name="Image 0" descr="/home/claude/pptx_build/images/icons/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1592" y="2142256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28346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 + Network Architect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68680" y="3776472"/>
            <a:ext cx="140817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76656" y="3904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Anas Tahir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76656" y="4937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F2024266985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61488" y="169164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56432" y="1984248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13" name="Image 1" descr="/home/claude/pptx_build/images/icons/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440" y="214225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28346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Engineer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3081528" y="3776472"/>
            <a:ext cx="140817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89504" y="3904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Talha Bhatti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889504" y="4937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F2024266503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974336" y="169164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669280" y="1984248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20" name="Image 2" descr="/home/claude/pptx_build/images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7288" y="2142256"/>
            <a:ext cx="342351" cy="34235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02352" y="28346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Lead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294376" y="3776472"/>
            <a:ext cx="140817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102352" y="3904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Nihaas Bhatti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102352" y="4937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F2024266196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7187184" y="169164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882128" y="1984248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27" name="Image 3" descr="/home/claude/pptx_build/images/icons/clipboa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0136" y="2142256"/>
            <a:ext cx="342351" cy="34235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0" y="28346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/ QA Engineer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507224" y="3776472"/>
            <a:ext cx="140817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0" y="3904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Saim Ullah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315200" y="4937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F2024266594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9400032" y="1691640"/>
            <a:ext cx="2048256" cy="4160520"/>
          </a:xfrm>
          <a:prstGeom prst="roundRect">
            <a:avLst>
              <a:gd name="adj" fmla="val 401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094976" y="1984248"/>
            <a:ext cx="658368" cy="658368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34" name="Image 4" descr="/home/claude/pptx_build/images/icons/lis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2984" y="2142256"/>
            <a:ext cx="342351" cy="342351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528048" y="2834640"/>
            <a:ext cx="1792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Lead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9720072" y="3776472"/>
            <a:ext cx="1408176" cy="0"/>
          </a:xfrm>
          <a:prstGeom prst="line">
            <a:avLst/>
          </a:prstGeom>
          <a:noFill/>
          <a:ln w="12700">
            <a:solidFill>
              <a:srgbClr val="DCE4E7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9528048" y="3904488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Salik Saeed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9528048" y="49377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F2024266596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HybridCloud Corp needs its on-premise data center to securely reach a cloud-hosted service. We simulated this entirely in software — an on-premise network in GNS3 paired with a Docker-based cloud emulation — connected through an encrypted IPsec tunnel.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pptx_build/images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3475452"/>
            <a:ext cx="199705" cy="19970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3355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router + Ubuntu server simulate the on-premise data center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3950208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1" descr="/home/claude/pptx_build/images/icons/dock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4042380"/>
            <a:ext cx="199705" cy="1997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3922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 + StrongSwan in Docker simulate the cloud environment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517136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2" descr="/home/claude/pptx_build/images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4609308"/>
            <a:ext cx="199705" cy="19970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4489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IPsec tunnel encrypts traffic between both sides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5084064"/>
            <a:ext cx="384048" cy="384048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3" descr="/home/claude/pptx_build/image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176236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5056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Connectivity, NAT, and QoS verified through structured test cases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0" y="169164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0B2E4F"/>
          </a:solidFill>
          <a:ln/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8" name="Text 12"/>
          <p:cNvSpPr/>
          <p:nvPr/>
        </p:nvSpPr>
        <p:spPr>
          <a:xfrm>
            <a:off x="67208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72084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172.16.1.0/24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6720840" y="2862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subnet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6720840" y="32735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10.0.0.0/24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6720840" y="3666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subnet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720840" y="407822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IKEv1 + AES-256</a:t>
            </a:r>
            <a:endParaRPr lang="en-US" sz="2100" dirty="0"/>
          </a:p>
        </p:txBody>
      </p:sp>
      <p:sp>
        <p:nvSpPr>
          <p:cNvPr id="24" name="Text 18"/>
          <p:cNvSpPr/>
          <p:nvPr/>
        </p:nvSpPr>
        <p:spPr>
          <a:xfrm>
            <a:off x="6720840" y="44714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encryption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720840" y="488289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UDP 500 / 4500</a:t>
            </a:r>
            <a:endParaRPr lang="en-US" sz="2100" dirty="0"/>
          </a:p>
        </p:txBody>
      </p:sp>
      <p:sp>
        <p:nvSpPr>
          <p:cNvPr id="26" name="Text 20"/>
          <p:cNvSpPr/>
          <p:nvPr/>
        </p:nvSpPr>
        <p:spPr>
          <a:xfrm>
            <a:off x="6720840" y="5276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negotiation ports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home/claude/pptx_build/images/icons/diagram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2180295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743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on-premise network in GNS3 with a Cisco router and Ubuntu server.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5740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home/claude/pptx_build/images/icons/dock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4895" y="218029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2743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simulated cloud using Docker — LocalStack as the server, StrongSwan as the gateway.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205740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home/claude/pptx_build/images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935" y="218029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274320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site-to-site IPsec tunnel between the on-premise router and the cloud endpoint.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3891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66344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home/claude/pptx_build/images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855" y="478633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690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822960" y="5349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connectivity in both directions and validate supporting NAT, QoS, and SSH services.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297680" y="438912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66344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home/claude/pptx_build/images/icons/clipboa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4895" y="478633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469087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572000" y="534924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configuration, results, and any environment limitations encountered.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Topology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DCF0EF"/>
          </a:solidFill>
          <a:ln w="15875">
            <a:solidFill>
              <a:srgbClr val="0E7C7B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 ·  GNS3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172.16.1.0/24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90322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9" name="Image 0" descr="/home/claude/pptx_build/images/icons/serv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301294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816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 Router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9164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172.16.1.1 · Gateway + IPsec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7947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1097280" y="400050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14" name="Image 1" descr="/home/claude/pptx_build/images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008" y="41102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691640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Server VM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691640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172.16.1.10 · Target host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14400" y="48920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97280" y="509778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pic>
        <p:nvPicPr>
          <p:cNvPr id="19" name="Image 2" descr="/home/claude/pptx_build/images/icons/termina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520750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5010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PC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691640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/ Admin access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063240" y="3566160"/>
            <a:ext cx="0" cy="228600"/>
          </a:xfrm>
          <a:prstGeom prst="line">
            <a:avLst/>
          </a:prstGeom>
          <a:noFill/>
          <a:ln w="19050">
            <a:solidFill>
              <a:srgbClr val="0B2E4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063240" y="4663440"/>
            <a:ext cx="0" cy="228600"/>
          </a:xfrm>
          <a:prstGeom prst="line">
            <a:avLst/>
          </a:prstGeom>
          <a:noFill/>
          <a:ln w="19050">
            <a:solidFill>
              <a:srgbClr val="0B2E4F"/>
            </a:solidFill>
            <a:prstDash val="dash"/>
          </a:ln>
        </p:spPr>
      </p:sp>
      <p:sp>
        <p:nvSpPr>
          <p:cNvPr id="24" name="Shape 19"/>
          <p:cNvSpPr/>
          <p:nvPr/>
        </p:nvSpPr>
        <p:spPr>
          <a:xfrm>
            <a:off x="6611112" y="1737360"/>
            <a:ext cx="5029200" cy="4297680"/>
          </a:xfrm>
          <a:prstGeom prst="roundRect">
            <a:avLst>
              <a:gd name="adj" fmla="val 2128"/>
            </a:avLst>
          </a:prstGeom>
          <a:solidFill>
            <a:srgbClr val="FBEEDD"/>
          </a:solidFill>
          <a:ln w="15875">
            <a:solidFill>
              <a:srgbClr val="C97B2E"/>
            </a:solidFill>
            <a:prstDash val="dash"/>
          </a:ln>
        </p:spPr>
      </p:sp>
      <p:sp>
        <p:nvSpPr>
          <p:cNvPr id="25" name="Text 20"/>
          <p:cNvSpPr/>
          <p:nvPr/>
        </p:nvSpPr>
        <p:spPr>
          <a:xfrm>
            <a:off x="6885432" y="190195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 ·  DOCKER / LOCALSTACK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885432" y="22128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7B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10.0.0.0/24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976872" y="269748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7159752" y="2903220"/>
            <a:ext cx="457200" cy="457200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29" name="Image 3" descr="/home/claude/pptx_build/images/icons/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3012948"/>
            <a:ext cx="237744" cy="23774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754112" y="28163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StrongSwan</a:t>
            </a:r>
            <a:endParaRPr lang="en-US" sz="1350" dirty="0"/>
          </a:p>
        </p:txBody>
      </p:sp>
      <p:sp>
        <p:nvSpPr>
          <p:cNvPr id="31" name="Text 25"/>
          <p:cNvSpPr/>
          <p:nvPr/>
        </p:nvSpPr>
        <p:spPr>
          <a:xfrm>
            <a:off x="7754112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 · IPsec endpoint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6976872" y="379476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159752" y="4000500"/>
            <a:ext cx="457200" cy="457200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34" name="Image 4" descr="/home/claude/pptx_build/images/icons/dock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4110228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754112" y="39136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LocalStack</a:t>
            </a:r>
            <a:endParaRPr lang="en-US" sz="1350" dirty="0"/>
          </a:p>
        </p:txBody>
      </p:sp>
      <p:sp>
        <p:nvSpPr>
          <p:cNvPr id="36" name="Text 29"/>
          <p:cNvSpPr/>
          <p:nvPr/>
        </p:nvSpPr>
        <p:spPr>
          <a:xfrm>
            <a:off x="7754112" y="4279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10.0.0.10 · Simulated cloud server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6976872" y="4892040"/>
            <a:ext cx="4297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7159752" y="5097780"/>
            <a:ext cx="457200" cy="457200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39" name="Image 5" descr="/home/claude/pptx_build/images/icons/network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5207508"/>
            <a:ext cx="237744" cy="237744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754112" y="5010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Bridge</a:t>
            </a:r>
            <a:endParaRPr lang="en-US" sz="1350" dirty="0"/>
          </a:p>
        </p:txBody>
      </p:sp>
      <p:sp>
        <p:nvSpPr>
          <p:cNvPr id="41" name="Text 33"/>
          <p:cNvSpPr/>
          <p:nvPr/>
        </p:nvSpPr>
        <p:spPr>
          <a:xfrm>
            <a:off x="7754112" y="5376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 container network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9125712" y="3566160"/>
            <a:ext cx="0" cy="228600"/>
          </a:xfrm>
          <a:prstGeom prst="line">
            <a:avLst/>
          </a:prstGeom>
          <a:noFill/>
          <a:ln w="19050">
            <a:solidFill>
              <a:srgbClr val="0B2E4F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9125712" y="4663440"/>
            <a:ext cx="0" cy="228600"/>
          </a:xfrm>
          <a:prstGeom prst="line">
            <a:avLst/>
          </a:prstGeom>
          <a:noFill/>
          <a:ln w="19050">
            <a:solidFill>
              <a:srgbClr val="0B2E4F"/>
            </a:solidFill>
            <a:prstDash val="dash"/>
          </a:ln>
        </p:spPr>
      </p:sp>
      <p:sp>
        <p:nvSpPr>
          <p:cNvPr id="44" name="Shape 36"/>
          <p:cNvSpPr/>
          <p:nvPr/>
        </p:nvSpPr>
        <p:spPr>
          <a:xfrm>
            <a:off x="5577840" y="3108960"/>
            <a:ext cx="1033272" cy="0"/>
          </a:xfrm>
          <a:prstGeom prst="line">
            <a:avLst/>
          </a:prstGeom>
          <a:noFill/>
          <a:ln w="31750">
            <a:solidFill>
              <a:srgbClr val="D1495B"/>
            </a:solidFill>
            <a:prstDash val="dash"/>
          </a:ln>
        </p:spPr>
      </p:sp>
      <p:sp>
        <p:nvSpPr>
          <p:cNvPr id="45" name="Shape 37"/>
          <p:cNvSpPr/>
          <p:nvPr/>
        </p:nvSpPr>
        <p:spPr>
          <a:xfrm>
            <a:off x="5856732" y="2542032"/>
            <a:ext cx="475488" cy="475488"/>
          </a:xfrm>
          <a:prstGeom prst="ellipse">
            <a:avLst/>
          </a:prstGeom>
          <a:solidFill>
            <a:srgbClr val="D1495B"/>
          </a:solidFill>
          <a:ln/>
        </p:spPr>
      </p:sp>
      <p:pic>
        <p:nvPicPr>
          <p:cNvPr id="46" name="Image 6" descr="/home/claude/pptx_build/images/icons/lock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0849" y="2656149"/>
            <a:ext cx="247254" cy="24725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454396" y="31821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Tunnel</a:t>
            </a:r>
            <a:endParaRPr lang="en-US" sz="1050" dirty="0"/>
          </a:p>
        </p:txBody>
      </p:sp>
      <p:sp>
        <p:nvSpPr>
          <p:cNvPr id="48" name="Text 3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49" name="Text 40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DESIGN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Addressing Plan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743200"/>
                <a:gridCol w="49651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On-premise subnet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172.16.1.0/24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GNS3 internal 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subnet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10.0.0.0/24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bridge network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Router (Fa1/0)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+ IPsec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Router (Fa2/0)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/ Outside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 outside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172.16.1.10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of cloud connectivity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StrongSwan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Cloud-side IPsec endpoint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LocalStack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10.0.0.10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Initiates connectivity 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IPsec ports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UDP 500 / 4500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IKE negotiation + NAT-T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Cisco Router — NAT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deliverable — translates internal addresses for outbound cloud-bound traffic.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57400"/>
            <a:ext cx="5989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NAT Configuration - Week 4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 Date: June 10, 2026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FastEthernet1/0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nat inside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FastEthernet2/0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ip nat outside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nat inside source list 1 \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interface FastEthernet2/0 overload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 permit 172.16.1.0 \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0.0.0.255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87452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05740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0" descr="/home/claude/pptx_build/images/icons/netwo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870" y="2158350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09560" y="2020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/ Outside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Fa1/0 faces the LAN; Fa2/0 faces the WAN — defines NAT direction.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78040" y="329184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347472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/home/claude/pptx_build/images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70" y="3575670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 (PAT)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90956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internal hosts share the single outside IP via port translation.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178040" y="470916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489204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pptx_build/images/icons/shield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870" y="499299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09560" y="4855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1 scope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909560" y="5166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172.16.1.0/24 traffic is eligible for translation.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StrongSwan — IPsec Tunnel Configuration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Cloud-side tunnel definition — peers with the on-premise router to encrypt cross-site traffic.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400800" cy="4160520"/>
          </a:xfrm>
          <a:prstGeom prst="roundRect">
            <a:avLst>
              <a:gd name="adj" fmla="val 1758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29968"/>
            <a:ext cx="5989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setup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charondebug="all"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uniqueids=no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 hybrid-cloud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left=10.0.0.10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leftsubnet=10.0.0.0/24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right=10.0.0.1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rightsubnet=172.16.1.0/24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authby=secret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keyexchange=ikev1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aggressive=no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ike=aes256-sha1-modp1024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esp=aes256-sha1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type=tunnel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auto=start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D3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forceencaps=yes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78040" y="187452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205740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9" name="Image 0" descr="/home/claude/pptx_build/images/icons/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870" y="2158350"/>
            <a:ext cx="218724" cy="2187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09560" y="20208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/ SHA-1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2331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symmetric encryption with integrity check for both IKE and ESP phases.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178040" y="329184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60920" y="347472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4" name="Image 1" descr="/home/claude/pptx_build/images/icons/rout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870" y="3575670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34381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subnets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90956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exactly which two networks (10.0.0.0/24 ↔ 172.16.1.0/24) are tunneled.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178040" y="4709160"/>
            <a:ext cx="4462272" cy="1261872"/>
          </a:xfrm>
          <a:prstGeom prst="roundRect">
            <a:avLst>
              <a:gd name="adj" fmla="val 5797"/>
            </a:avLst>
          </a:prstGeom>
          <a:solidFill>
            <a:srgbClr val="0F2440"/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360920" y="4892040"/>
            <a:ext cx="420624" cy="42062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9" name="Image 2" descr="/home/claude/pptx_build/images/icons/networ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870" y="4992990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09560" y="48554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forceencaps=yes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7909560" y="5166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NAT-traversal encapsulation (UDP 4500) for compatibility behind NAT.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On-Premise Connectivity Verified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reachability from the Ubuntu server to the router gateway was confirmed first, establishing that the on-premise side of the topology is fully functional before testing the cross-environment tunnel.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5029200" cy="2468880"/>
          </a:xfrm>
          <a:prstGeom prst="roundRect">
            <a:avLst>
              <a:gd name="adj" fmla="val 3704"/>
            </a:avLst>
          </a:prstGeom>
          <a:solidFill>
            <a:srgbClr val="E1F3E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611880"/>
            <a:ext cx="502920" cy="502920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7" name="Image 0" descr="/home/claude/pptx_build/image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37325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3611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 Packet Loss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4389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Command: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B2E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5 172.16.1.1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5 transmitted, 5 received
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avg:  18.1 ms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26480" y="1783080"/>
            <a:ext cx="5669280" cy="2535443"/>
          </a:xfrm>
          <a:prstGeom prst="roundRect">
            <a:avLst>
              <a:gd name="adj" fmla="val 2885"/>
            </a:avLst>
          </a:prstGeom>
          <a:solidFill>
            <a:srgbClr val="071F38"/>
          </a:solidFill>
          <a:ln/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pic>
        <p:nvPicPr>
          <p:cNvPr id="11" name="Image 1" descr="/home/claude/pptx_build/images/ping_evid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920240"/>
            <a:ext cx="5394960" cy="22611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6480" y="4501403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 — Ubuntu server pinging the router gateway (172.16.1.1)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 Test Results Matrix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743200"/>
                <a:gridCol w="1828800"/>
                <a:gridCol w="2103120"/>
                <a:gridCol w="18562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→ Router 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172.16.1.1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Ubuntu → Docker ping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ping 10.0.0.10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NAT statistics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ip nat statistics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&gt;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97B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TRAFFIC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ED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QoS policy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show policy-map interface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3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Windows → Router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ssh admin@10.0.0.1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Backup 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python backup_config.py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saved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 failed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149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2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 passed directly</a:t>
            </a:r>
            <a:pPr indent="0" marL="0">
              <a:buNone/>
            </a:pPr>
            <a:r>
              <a:rPr lang="en-US" sz="14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4 / 6 failed at network layer despite correct config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7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Challenge: Hyper-V Network Isolation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BEEDD"/>
          </a:solidFill>
          <a:ln w="12700">
            <a:solidFill>
              <a:srgbClr val="C97B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502920" cy="502920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6" name="Image 0" descr="/home/claude/pptx_build/images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13509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83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GNS3 and Docker Desktop run on separate virtualization backends on Windows. Hyper-V's network isolation prevented direct cross-environment traffic — this is a platform limitation, not a configuration error.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3081528"/>
            <a:ext cx="457200" cy="457200"/>
          </a:xfrm>
          <a:prstGeom prst="ellipse">
            <a:avLst/>
          </a:prstGeom>
          <a:solidFill>
            <a:srgbClr val="D1495B"/>
          </a:solidFill>
          <a:ln/>
        </p:spPr>
      </p:sp>
      <p:pic>
        <p:nvPicPr>
          <p:cNvPr id="10" name="Image 1" descr="/home/claude/pptx_build/images/icons/tim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19125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044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Ubuntu → Docker ping failed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417320" y="35935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packet loss to 10.0.0.10 despite correct IP addressing and routing.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91072" y="288036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19672" y="3081528"/>
            <a:ext cx="457200" cy="457200"/>
          </a:xfrm>
          <a:prstGeom prst="ellipse">
            <a:avLst/>
          </a:prstGeom>
          <a:solidFill>
            <a:srgbClr val="D1495B"/>
          </a:solidFill>
          <a:ln/>
        </p:spPr>
      </p:sp>
      <p:pic>
        <p:nvPicPr>
          <p:cNvPr id="15" name="Image 2" descr="/home/claude/pptx_build/images/icons/time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191256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59752" y="304495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timeout to router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7159752" y="359359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host could not reach 10.0.0.1 — Hyper-V switch blocked the path.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6634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864608"/>
            <a:ext cx="457200" cy="457200"/>
          </a:xfrm>
          <a:prstGeom prst="ellipse">
            <a:avLst/>
          </a:prstGeom>
          <a:solidFill>
            <a:srgbClr val="D1495B"/>
          </a:solidFill>
          <a:ln/>
        </p:spPr>
      </p:sp>
      <p:pic>
        <p:nvPicPr>
          <p:cNvPr id="20" name="Image 3" descr="/home/claude/pptx_build/images/icons/tim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974336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4828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script connection failed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417320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SSH automation hit the same cross-platform network barrier.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91072" y="4663440"/>
            <a:ext cx="5349240" cy="1508760"/>
          </a:xfrm>
          <a:prstGeom prst="roundRect">
            <a:avLst>
              <a:gd name="adj" fmla="val 4848"/>
            </a:avLst>
          </a:prstGeom>
          <a:solidFill>
            <a:srgbClr val="F4F7F8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19672" y="4864608"/>
            <a:ext cx="457200" cy="457200"/>
          </a:xfrm>
          <a:prstGeom prst="ellipse">
            <a:avLst/>
          </a:prstGeom>
          <a:solidFill>
            <a:srgbClr val="D1495B"/>
          </a:solidFill>
          <a:ln/>
        </p:spPr>
      </p:sp>
      <p:pic>
        <p:nvPicPr>
          <p:cNvPr id="25" name="Image 4" descr="/home/claude/pptx_build/images/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974336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9752" y="482803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NAT hit count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7159752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cross-environment traffic ever traversed the router to be translated.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Remediation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91840" y="21031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/home/claude/pptx_build/images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22128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Unify the virtualization backend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GNS3 and Docker on the same backend — e.g., both inside WSL2, or both via VMware/VirtualBox — to avoid Hyper-V switch isolation.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7040880" y="21031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5" name="Image 1" descr="/home/claude/pptx_build/images/icons/clou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2212848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 via GNS3 Cloud node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7200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a GNS3 'Cloud' node to the Hyper-V Default Switch or external adapter that Docker Desktop already uses.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46720" y="1828800"/>
            <a:ext cx="35204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CE4E7"/>
            </a:solidFill>
            <a:prstDash val="solid"/>
          </a:ln>
          <a:effectLst>
            <a:outerShdw sx="100000" sy="100000" kx="0" ky="0" algn="bl" rotWithShape="0" blurRad="127000" dist="38100" dir="5400000">
              <a:srgbClr val="0B2E4F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0" name="Text 16"/>
          <p:cNvSpPr/>
          <p:nvPr/>
        </p:nvSpPr>
        <p:spPr>
          <a:xfrm>
            <a:off x="8321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10789920" y="21031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2" name="Image 2" descr="/home/claude/pptx_build/images/icons/dock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48" y="221284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21040" y="27432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B2E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containers inside GNS3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8321040" y="33832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Alternatively, deploy StrongSwan and LocalStack as Docker-in-GNS3 appliances within the same project — eliminating the host-boundary problem entirely.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0E7C7B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D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Outcome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438912" cy="438912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6" name="Image 0" descr="/home/claude/pptx_build/images/icons/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419" y="193413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10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topology fully designed and implemented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2542032"/>
            <a:ext cx="438912" cy="438912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9" name="Image 1" descr="/home/claude/pptx_build/images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19" y="2647371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52374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 network verified end-to-end (0% packet loss)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" y="3255264"/>
            <a:ext cx="438912" cy="438912"/>
          </a:xfrm>
          <a:prstGeom prst="ellipse">
            <a:avLst/>
          </a:prstGeom>
          <a:solidFill>
            <a:srgbClr val="1E8E5A"/>
          </a:solidFill>
          <a:ln/>
        </p:spPr>
      </p:sp>
      <p:pic>
        <p:nvPicPr>
          <p:cNvPr id="12" name="Image 2" descr="/home/claude/pptx_build/images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360603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2369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tunnel correctly configured on both endpoints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640080" y="3968496"/>
            <a:ext cx="438912" cy="438912"/>
          </a:xfrm>
          <a:prstGeom prst="ellipse">
            <a:avLst/>
          </a:prstGeom>
          <a:solidFill>
            <a:srgbClr val="C97B2E"/>
          </a:solidFill>
          <a:ln/>
        </p:spPr>
      </p:sp>
      <p:pic>
        <p:nvPicPr>
          <p:cNvPr id="15" name="Image 3" descr="/home/claude/pptx_build/images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419" y="4073835"/>
            <a:ext cx="228234" cy="2282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9502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Cross-environment verification blocked by Hyper-V isolation — a platform limitation, not a design flaw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640080" y="502920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E8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the project meets the functional requirements of Problem 8: a defined hybrid topology, a matching IPsec tunnel configuration, and verified on-premise connectivity — with the one remaining gap attributable to host-level virtualization, not network design.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|  Problem 8: Hybrid Cloud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F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6400800" cy="6400800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743200"/>
            <a:ext cx="5486400" cy="5486400"/>
          </a:xfrm>
          <a:prstGeom prst="ellipse">
            <a:avLst/>
          </a:prstGeom>
          <a:solidFill>
            <a:srgbClr val="0E7C7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210312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/home/claude/pptx_build/images/icons/comme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506" y="23006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10896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AFC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CCP-CNS2026  ·  Problem 8: Hybrid Cloud  ·  Computer Networks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 Cloud — Problem 8</dc:title>
  <dc:subject>PptxGenJS Presentation</dc:subject>
  <dc:creator>CCP-CNS2026 Team</dc:creator>
  <cp:lastModifiedBy>CCP-CNS2026 Team</cp:lastModifiedBy>
  <cp:revision>1</cp:revision>
  <dcterms:created xsi:type="dcterms:W3CDTF">2026-06-16T03:52:41Z</dcterms:created>
  <dcterms:modified xsi:type="dcterms:W3CDTF">2026-06-16T03:52:41Z</dcterms:modified>
</cp:coreProperties>
</file>